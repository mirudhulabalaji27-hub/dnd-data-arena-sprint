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91414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91414"/>
                </a:solidFill>
                <a:latin typeface="Arial"/>
              </a:rPr>
              <a:t>Peak Listening Time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Listening 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B95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Night</c:v>
                </c:pt>
                <c:pt idx="1">
                  <c:v>Afternoon</c:v>
                </c:pt>
                <c:pt idx="2">
                  <c:v>Morning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91414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91414"/>
                </a:solidFill>
                <a:latin typeface="Arial"/>
              </a:rPr>
              <a:t>Music vs Podcast by 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Music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12–20</c:v>
                  </c:pt>
                  <c:pt idx="1">
                    <c:v>20–35</c:v>
                  </c:pt>
                  <c:pt idx="2">
                    <c:v>35–60</c:v>
                  </c:pt>
                  <c:pt idx="3">
                    <c:v>6–12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370</c:v>
                </c:pt>
                <c:pt idx="2">
                  <c:v>30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Podcast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12–20</c:v>
                  </c:pt>
                  <c:pt idx="1">
                    <c:v>20–35</c:v>
                  </c:pt>
                  <c:pt idx="2">
                    <c:v>35–60</c:v>
                  </c:pt>
                  <c:pt idx="3">
                    <c:v>6–12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12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53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53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91414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91414"/>
                </a:solidFill>
                <a:latin typeface="Arial"/>
              </a:rPr>
              <a:t>User Loyalty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9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6 months</c:v>
                  </c:pt>
                  <c:pt idx="1">
                    <c:v>6m–1yr</c:v>
                  </c:pt>
                  <c:pt idx="2">
                    <c:v>1–2 years</c:v>
                  </c:pt>
                  <c:pt idx="3">
                    <c:v>2+ years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110</c:v>
                </c:pt>
                <c:pt idx="2">
                  <c:v>149</c:v>
                </c:pt>
                <c:pt idx="3">
                  <c:v>169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9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53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53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mirudhulabalaji27-hub.github.io/dnd-data-arena-sprint/spotify_dashboard.html" TargetMode="External"/><Relationship Id="rId2" Type="http://schemas.openxmlformats.org/officeDocument/2006/relationships/hyperlink" Target="https://github.com/mirudhulabalaji27-hub/dnd-data-arena-sprint" TargetMode="External"/><Relationship Id="rId3" Type="http://schemas.openxmlformats.org/officeDocument/2006/relationships/hyperlink" Target="https://github.com/mirudhulabalaji27-hub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DB954">
              <a:alpha val="15000"/>
            </a:srgbClr>
          </a:solidFill>
          <a:ln w="12700">
            <a:solidFill>
              <a:srgbClr val="1DB95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1DB954">
              <a:alpha val="10000"/>
            </a:srgbClr>
          </a:solidFill>
          <a:ln w="12700">
            <a:solidFill>
              <a:srgbClr val="1DB9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594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DND DATA ARENA 2025  ·  DATASET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Behavior</a:t>
            </a:r>
            <a:endParaRPr lang="en-US" sz="5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Revealing the behavioral tribes, retention signals,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untapped revenue opportunities inside Spotify.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1965960" cy="475488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636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484632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Analyzed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4617720"/>
            <a:ext cx="1965960" cy="475488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4636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24328" y="484632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4617720"/>
            <a:ext cx="1965960" cy="475488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4636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81728" y="484632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4617720"/>
            <a:ext cx="1965960" cy="475488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4636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39128" y="484632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Year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&amp;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24688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streaming platforms lack behavioral clarity on why free users don't convert and when loyal users form. This dataset closes that gap.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40233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274320"/>
            <a:ext cx="4754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274320"/>
            <a:ext cx="109728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8348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Users Analyzed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444752"/>
            <a:ext cx="4754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1444752"/>
            <a:ext cx="109728" cy="1005840"/>
          </a:xfrm>
          <a:prstGeom prst="rect">
            <a:avLst/>
          </a:prstGeom>
          <a:solidFill>
            <a:srgbClr val="1D7FE0"/>
          </a:solidFill>
          <a:ln w="12700">
            <a:solidFill>
              <a:srgbClr val="1D7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8348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983480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Features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2615184"/>
            <a:ext cx="4754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2615184"/>
            <a:ext cx="109728" cy="1005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83480" y="2706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Groups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983480" y="3118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Segments (6–60+)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3785616"/>
            <a:ext cx="4754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06240" y="3785616"/>
            <a:ext cx="109728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83480" y="3877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Tiers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983480" y="4288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Types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06240" y="4434840"/>
            <a:ext cx="4754880" cy="594360"/>
          </a:xfrm>
          <a:prstGeom prst="rect">
            <a:avLst/>
          </a:prstGeom>
          <a:solidFill>
            <a:srgbClr val="F0FFF4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4348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 Tools Used: Python · Google Colab · Chart.js · Kaggle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1DB954">
              <a:alpha val="10000"/>
            </a:srgbClr>
          </a:solidFill>
          <a:ln w="12700">
            <a:solidFill>
              <a:srgbClr val="1DB954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HEADLINE FINDINGS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 Matter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30175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651760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Listeners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users engage during nighttime — making it Spotify's prime window for playlist targeting, push notifications, and curated drops.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51760" cy="30175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828800"/>
            <a:ext cx="2651760" cy="73152"/>
          </a:xfrm>
          <a:prstGeom prst="rect">
            <a:avLst/>
          </a:prstGeom>
          <a:solidFill>
            <a:srgbClr val="1D7FE0"/>
          </a:solidFill>
          <a:ln w="12700">
            <a:solidFill>
              <a:srgbClr val="1D7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7F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35.8%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Untapped Premium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2918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willing to pay for Premium but haven't converted — representing 186 users and a massive, addressable revenue opportunity.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30175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651760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169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Year Loyalists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have stayed over two years. Retention accelerates past the 6-month mark — making early engagement the single most critical intervention.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Highlights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92024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234440"/>
            <a:ext cx="1920240" cy="64008"/>
          </a:xfrm>
          <a:prstGeom prst="rect">
            <a:avLst/>
          </a:prstGeom>
          <a:solidFill>
            <a:srgbClr val="1D7FE0"/>
          </a:solidFill>
          <a:ln w="12700">
            <a:solidFill>
              <a:srgbClr val="1D7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1325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7F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35.8%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70048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Willing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19202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325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3.5/5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73168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234440"/>
            <a:ext cx="192024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325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78.8%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76288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Music-First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057400"/>
          <a:ext cx="2743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3337560" y="2057400"/>
          <a:ext cx="3200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" descr=""/>
          <p:cNvGraphicFramePr/>
          <p:nvPr/>
        </p:nvGraphicFramePr>
        <p:xfrm>
          <a:off x="6675120" y="2057400"/>
          <a:ext cx="2148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 1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Kaggle — Meera Ajayakumar · 519 users · DND Data Arena 2025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BUILT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331720" y="2011680"/>
            <a:ext cx="182880" cy="73152"/>
          </a:xfrm>
          <a:prstGeom prst="rect">
            <a:avLst/>
          </a:prstGeom>
          <a:solidFill>
            <a:srgbClr val="535353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00200"/>
            <a:ext cx="1920240" cy="30175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00200"/>
            <a:ext cx="192024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783080"/>
            <a:ext cx="457200" cy="45720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from Kaggle (Meera Ajayakumar). 519 users, 20 behavioral &amp; demographic features.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2011680"/>
            <a:ext cx="182880" cy="73152"/>
          </a:xfrm>
          <a:prstGeom prst="rect">
            <a:avLst/>
          </a:prstGeom>
          <a:solidFill>
            <a:srgbClr val="535353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600200"/>
            <a:ext cx="1920240" cy="30175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1600200"/>
            <a:ext cx="1920240" cy="64008"/>
          </a:xfrm>
          <a:prstGeom prst="rect">
            <a:avLst/>
          </a:prstGeom>
          <a:solidFill>
            <a:srgbClr val="1D7FE0"/>
          </a:solidFill>
          <a:ln w="12700">
            <a:solidFill>
              <a:srgbClr val="1D7F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9192" y="1783080"/>
            <a:ext cx="457200" cy="457200"/>
          </a:xfrm>
          <a:prstGeom prst="ellipse">
            <a:avLst/>
          </a:prstGeom>
          <a:solidFill>
            <a:srgbClr val="1D7FE0"/>
          </a:solidFill>
          <a:ln w="12700">
            <a:solidFill>
              <a:srgbClr val="1D7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8346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nulls, normalized age groups, encoded categorical variables in Python / Google Colab.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2011680"/>
            <a:ext cx="182880" cy="73152"/>
          </a:xfrm>
          <a:prstGeom prst="rect">
            <a:avLst/>
          </a:prstGeom>
          <a:solidFill>
            <a:srgbClr val="535353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600200"/>
            <a:ext cx="1920240" cy="30175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600200"/>
            <a:ext cx="192024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2312" y="178308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28346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Segmented users by listening time, subscription, mood, loyalty tier, and gender for pattern discovery.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20840" y="1600200"/>
            <a:ext cx="1920240" cy="30175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1600200"/>
            <a:ext cx="19202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85432" y="1783080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&amp; Insights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28346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interactive Chart.js dashboard. Identified 4 behavioral tribes and 3 headline revenue signals.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4736592"/>
            <a:ext cx="1133856" cy="292608"/>
          </a:xfrm>
          <a:prstGeom prst="roundRect">
            <a:avLst>
              <a:gd name="adj" fmla="val 18750"/>
            </a:avLst>
          </a:prstGeom>
          <a:solidFill>
            <a:srgbClr val="282828"/>
          </a:solidFill>
          <a:ln w="9525">
            <a:solidFill>
              <a:srgbClr val="1DB9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73659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709928" y="4736592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282828"/>
          </a:solidFill>
          <a:ln w="9525">
            <a:solidFill>
              <a:srgbClr val="1DB9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09928" y="47365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02152" y="473659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282828"/>
          </a:solidFill>
          <a:ln w="9525">
            <a:solidFill>
              <a:srgbClr val="1DB9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02152" y="473659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65192" y="4736592"/>
            <a:ext cx="1133856" cy="292608"/>
          </a:xfrm>
          <a:prstGeom prst="roundRect">
            <a:avLst>
              <a:gd name="adj" fmla="val 18750"/>
            </a:avLst>
          </a:prstGeom>
          <a:solidFill>
            <a:srgbClr val="282828"/>
          </a:solidFill>
          <a:ln w="9525">
            <a:solidFill>
              <a:srgbClr val="1DB9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473659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Recommendations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128016" cy="10789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1435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Night-Mode Campaign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1828800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F0FFF4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828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+186 premium conversions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1417320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the 60% night listeners with time-sensitive Premium offers, curated 'Late Night' playlists, and push notifications between 9 PM–1 AM. Leverage the prime engagement window when intent is highest.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14600"/>
            <a:ext cx="128016" cy="1078992"/>
          </a:xfrm>
          <a:prstGeom prst="rect">
            <a:avLst/>
          </a:prstGeom>
          <a:solidFill>
            <a:srgbClr val="1D7FE0"/>
          </a:solidFill>
          <a:ln w="12700">
            <a:solidFill>
              <a:srgbClr val="1D7F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1D7FE0"/>
          </a:solidFill>
          <a:ln w="12700">
            <a:solidFill>
              <a:srgbClr val="1D7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28800" y="2624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Conversion Nudge Strategy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3017520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F0FFF4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3017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7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35.8% = 186 ready users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2606040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the 186 Premium-willing free users a 3-month discounted trial. This segment has already expressed intent — removing the price barrier is the only friction point. Target via in-app banners + email sequences.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03320"/>
            <a:ext cx="128016" cy="10789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258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828800" y="3813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 Retention Intervention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828800" y="4206240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F0FFF4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locks in at 6 months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3794760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onboarding investment on the first 6 months. The 91 users under 6 months are the highest drop-off risk. Personalized mood-based playlists (Relaxation dominates all genders) and milestone rewards can bridge this gap.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 Spotify User Behavior Dashboard  ·  DND Data Arena 2025  ·  Dataset: Kaggle  ·  Tools: Python · Google Colab · Chart.js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DB954">
              <a:alpha val="8000"/>
            </a:srgbClr>
          </a:solidFill>
          <a:ln w="12700">
            <a:solidFill>
              <a:srgbClr val="1DB954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Links &amp; Resources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8321040" cy="9601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508760"/>
            <a:ext cx="118872" cy="9601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1965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Spotify User Behavior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764792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9525">
            <a:solidFill>
              <a:srgbClr val="1DB954"/>
            </a:solidFill>
            <a:prstDash val="solid"/>
          </a:ln>
        </p:spPr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4480560" y="17647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https://mirudhulabalaji27-hub.github.io/dnd-data-arena-sprint/spotify_dashboard.html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2587752"/>
            <a:ext cx="8321040" cy="9601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87752"/>
            <a:ext cx="118872" cy="960120"/>
          </a:xfrm>
          <a:prstGeom prst="rect">
            <a:avLst/>
          </a:prstGeom>
          <a:solidFill>
            <a:srgbClr val="1D7FE0"/>
          </a:solidFill>
          <a:ln w="12700">
            <a:solidFill>
              <a:srgbClr val="1D7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679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Repository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044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DND Data Arena Sprint — source code &amp; notebooks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843784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9525">
            <a:solidFill>
              <a:srgbClr val="1D7FE0"/>
            </a:solidFill>
            <a:prstDash val="solid"/>
          </a:ln>
        </p:spPr>
      </p:sp>
      <p:sp>
        <p:nvSpPr>
          <p:cNvPr id="21" name="Text 19">
            <a:hlinkClick r:id="rId2" tooltip=""/>
          </p:cNvPr>
          <p:cNvSpPr/>
          <p:nvPr/>
        </p:nvSpPr>
        <p:spPr>
          <a:xfrm>
            <a:off x="4480560" y="28437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D7FE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https://github.com/mirudhulabalaji27-hub/dnd-data-arena-sprint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3666744"/>
            <a:ext cx="8321040" cy="9601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666744"/>
            <a:ext cx="118872" cy="9601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Profile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41239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mirudhulabalaji27-hub — all projects &amp; contributions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43400" y="3922776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28" name="Text 26">
            <a:hlinkClick r:id="rId3" tooltip=""/>
          </p:cNvPr>
          <p:cNvSpPr/>
          <p:nvPr/>
        </p:nvSpPr>
        <p:spPr>
          <a:xfrm>
            <a:off x="4480560" y="39227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https://github.com/mirudhulabalaji27-hub/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link above to open in your browser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User Behavior Dashboard</dc:title>
  <dc:subject>PptxGenJS Presentation</dc:subject>
  <dc:creator>PptxGenJS</dc:creator>
  <cp:lastModifiedBy>PptxGenJS</cp:lastModifiedBy>
  <cp:revision>1</cp:revision>
  <dcterms:created xsi:type="dcterms:W3CDTF">2026-05-01T09:16:16Z</dcterms:created>
  <dcterms:modified xsi:type="dcterms:W3CDTF">2026-05-01T09:16:16Z</dcterms:modified>
</cp:coreProperties>
</file>